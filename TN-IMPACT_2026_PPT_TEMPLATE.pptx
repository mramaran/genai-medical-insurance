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Montserrat Bold" panose="020B0604020202020204" charset="0"/>
      <p:regular r:id="rId11"/>
    </p:embeddedFont>
    <p:embeddedFont>
      <p:font typeface="Open Sa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D6D122-9F4C-4F36-AA7D-719AE0EE56E7}" v="12" dt="2026-03-04T19:15:31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ru Maran" userId="efb1a862402c11b6" providerId="LiveId" clId="{4A930035-A410-4869-A32E-D38DFB41646B}"/>
    <pc:docChg chg="modSld">
      <pc:chgData name="Thiru Maran" userId="efb1a862402c11b6" providerId="LiveId" clId="{4A930035-A410-4869-A32E-D38DFB41646B}" dt="2026-03-04T19:15:54.373" v="20" actId="1076"/>
      <pc:docMkLst>
        <pc:docMk/>
      </pc:docMkLst>
      <pc:sldChg chg="addSp modSp">
        <pc:chgData name="Thiru Maran" userId="efb1a862402c11b6" providerId="LiveId" clId="{4A930035-A410-4869-A32E-D38DFB41646B}" dt="2026-03-04T19:13:05.197" v="1"/>
        <pc:sldMkLst>
          <pc:docMk/>
          <pc:sldMk cId="0" sldId="258"/>
        </pc:sldMkLst>
        <pc:spChg chg="add mod">
          <ac:chgData name="Thiru Maran" userId="efb1a862402c11b6" providerId="LiveId" clId="{4A930035-A410-4869-A32E-D38DFB41646B}" dt="2026-03-04T19:13:05.197" v="1"/>
          <ac:spMkLst>
            <pc:docMk/>
            <pc:sldMk cId="0" sldId="258"/>
            <ac:spMk id="4" creationId="{1A8DFEC1-69E4-FB11-1F83-09206AD4C580}"/>
          </ac:spMkLst>
        </pc:spChg>
      </pc:sldChg>
      <pc:sldChg chg="addSp modSp">
        <pc:chgData name="Thiru Maran" userId="efb1a862402c11b6" providerId="LiveId" clId="{4A930035-A410-4869-A32E-D38DFB41646B}" dt="2026-03-04T19:14:14.270" v="5"/>
        <pc:sldMkLst>
          <pc:docMk/>
          <pc:sldMk cId="0" sldId="259"/>
        </pc:sldMkLst>
        <pc:spChg chg="add mod">
          <ac:chgData name="Thiru Maran" userId="efb1a862402c11b6" providerId="LiveId" clId="{4A930035-A410-4869-A32E-D38DFB41646B}" dt="2026-03-04T19:14:14.270" v="5"/>
          <ac:spMkLst>
            <pc:docMk/>
            <pc:sldMk cId="0" sldId="259"/>
            <ac:spMk id="5" creationId="{1C86036C-90D0-89A7-4815-57D6CF61F493}"/>
          </ac:spMkLst>
        </pc:spChg>
      </pc:sldChg>
      <pc:sldChg chg="addSp modSp">
        <pc:chgData name="Thiru Maran" userId="efb1a862402c11b6" providerId="LiveId" clId="{4A930035-A410-4869-A32E-D38DFB41646B}" dt="2026-03-04T19:13:45.379" v="3"/>
        <pc:sldMkLst>
          <pc:docMk/>
          <pc:sldMk cId="0" sldId="260"/>
        </pc:sldMkLst>
        <pc:spChg chg="add mod">
          <ac:chgData name="Thiru Maran" userId="efb1a862402c11b6" providerId="LiveId" clId="{4A930035-A410-4869-A32E-D38DFB41646B}" dt="2026-03-04T19:13:45.379" v="3"/>
          <ac:spMkLst>
            <pc:docMk/>
            <pc:sldMk cId="0" sldId="260"/>
            <ac:spMk id="5" creationId="{F687ABFF-C047-F0C3-F8D3-E0DC1D78AA17}"/>
          </ac:spMkLst>
        </pc:spChg>
      </pc:sldChg>
      <pc:sldChg chg="addSp modSp mod">
        <pc:chgData name="Thiru Maran" userId="efb1a862402c11b6" providerId="LiveId" clId="{4A930035-A410-4869-A32E-D38DFB41646B}" dt="2026-03-04T19:15:54.373" v="20" actId="1076"/>
        <pc:sldMkLst>
          <pc:docMk/>
          <pc:sldMk cId="0" sldId="261"/>
        </pc:sldMkLst>
        <pc:spChg chg="add mod">
          <ac:chgData name="Thiru Maran" userId="efb1a862402c11b6" providerId="LiveId" clId="{4A930035-A410-4869-A32E-D38DFB41646B}" dt="2026-03-04T19:15:31.772" v="12"/>
          <ac:spMkLst>
            <pc:docMk/>
            <pc:sldMk cId="0" sldId="261"/>
            <ac:spMk id="4" creationId="{4F3839B6-72BF-1017-8EE2-B5C360792F6F}"/>
          </ac:spMkLst>
        </pc:spChg>
        <pc:picChg chg="add mod">
          <ac:chgData name="Thiru Maran" userId="efb1a862402c11b6" providerId="LiveId" clId="{4A930035-A410-4869-A32E-D38DFB41646B}" dt="2026-03-04T19:15:54.373" v="20" actId="1076"/>
          <ac:picMkLst>
            <pc:docMk/>
            <pc:sldMk cId="0" sldId="261"/>
            <ac:picMk id="6" creationId="{9F85A383-47F6-64AB-9CFE-300631C580B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895947" y="6126972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700" y="527133"/>
            <a:ext cx="16320998" cy="1830249"/>
          </a:xfrm>
          <a:custGeom>
            <a:avLst/>
            <a:gdLst/>
            <a:ahLst/>
            <a:cxnLst/>
            <a:rect l="l" t="t" r="r" b="b"/>
            <a:pathLst>
              <a:path w="16320998" h="1830249">
                <a:moveTo>
                  <a:pt x="0" y="0"/>
                </a:moveTo>
                <a:lnTo>
                  <a:pt x="16320998" y="0"/>
                </a:lnTo>
                <a:lnTo>
                  <a:pt x="16320998" y="1830249"/>
                </a:lnTo>
                <a:lnTo>
                  <a:pt x="0" y="1830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190" b="-205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273793" y="2833632"/>
            <a:ext cx="8197691" cy="978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26"/>
              </a:lnSpc>
            </a:pPr>
            <a:r>
              <a:rPr lang="en-US" sz="7400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TN-IMPACT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49088" y="3626895"/>
            <a:ext cx="10615983" cy="697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91"/>
              </a:lnSpc>
            </a:pPr>
            <a:r>
              <a:rPr lang="en-US" sz="3900" b="1" dirty="0">
                <a:solidFill>
                  <a:srgbClr val="BC9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IDENTIFYING INDUSTRIAL CHALLENGES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41247"/>
            <a:ext cx="15856760" cy="124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6"/>
              </a:lnSpc>
            </a:pPr>
            <a:r>
              <a:rPr lang="en-US" sz="341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 NUMBER :</a:t>
            </a:r>
          </a:p>
          <a:p>
            <a:pPr algn="l">
              <a:lnSpc>
                <a:spcPts val="5066"/>
              </a:lnSpc>
            </a:pPr>
            <a:r>
              <a:rPr lang="en-US" sz="341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 TITLE 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657709" y="6644975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83154"/>
              </p:ext>
            </p:extLst>
          </p:nvPr>
        </p:nvGraphicFramePr>
        <p:xfrm>
          <a:off x="1242598" y="4886325"/>
          <a:ext cx="15292802" cy="4363361"/>
        </p:xfrm>
        <a:graphic>
          <a:graphicData uri="http://schemas.openxmlformats.org/drawingml/2006/table">
            <a:tbl>
              <a:tblPr/>
              <a:tblGrid>
                <a:gridCol w="1602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0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6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8902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S.NO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STUDENT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SEMESTER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DEPARTMENT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15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15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15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6003538" y="2177031"/>
            <a:ext cx="6280924" cy="66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6"/>
              </a:lnSpc>
            </a:pPr>
            <a:r>
              <a:rPr lang="en-US" sz="5299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details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2598" y="2731464"/>
            <a:ext cx="15802804" cy="188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9"/>
              </a:lnSpc>
            </a:pPr>
            <a:r>
              <a:rPr lang="en-US" sz="3400" b="1" dirty="0">
                <a:solidFill>
                  <a:srgbClr val="BC9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Name :</a:t>
            </a:r>
          </a:p>
          <a:p>
            <a:pPr algn="l">
              <a:lnSpc>
                <a:spcPts val="5049"/>
              </a:lnSpc>
            </a:pPr>
            <a:r>
              <a:rPr lang="en-US" sz="3400" b="1" dirty="0">
                <a:solidFill>
                  <a:srgbClr val="BC9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College Mentor Name :</a:t>
            </a:r>
          </a:p>
          <a:p>
            <a:pPr>
              <a:lnSpc>
                <a:spcPts val="5049"/>
              </a:lnSpc>
            </a:pPr>
            <a:r>
              <a:rPr lang="en-US" sz="3400" b="1" dirty="0">
                <a:solidFill>
                  <a:srgbClr val="BC9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College Name: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0"/>
            <a:ext cx="16230600" cy="1865186"/>
          </a:xfrm>
          <a:custGeom>
            <a:avLst/>
            <a:gdLst/>
            <a:ahLst/>
            <a:cxnLst/>
            <a:rect l="l" t="t" r="r" b="b"/>
            <a:pathLst>
              <a:path w="16230600" h="1865186">
                <a:moveTo>
                  <a:pt x="0" y="0"/>
                </a:moveTo>
                <a:lnTo>
                  <a:pt x="16230600" y="0"/>
                </a:lnTo>
                <a:lnTo>
                  <a:pt x="16230600" y="1865186"/>
                </a:lnTo>
                <a:lnTo>
                  <a:pt x="0" y="1865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111" b="-20416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6242" y="2628900"/>
            <a:ext cx="6324600" cy="694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000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504623"/>
            <a:ext cx="16320998" cy="1852759"/>
          </a:xfrm>
          <a:custGeom>
            <a:avLst/>
            <a:gdLst/>
            <a:ahLst/>
            <a:cxnLst/>
            <a:rect l="l" t="t" r="r" b="b"/>
            <a:pathLst>
              <a:path w="16320998" h="1852759">
                <a:moveTo>
                  <a:pt x="0" y="0"/>
                </a:moveTo>
                <a:lnTo>
                  <a:pt x="16320998" y="0"/>
                </a:lnTo>
                <a:lnTo>
                  <a:pt x="16320998" y="1852759"/>
                </a:lnTo>
                <a:lnTo>
                  <a:pt x="0" y="1852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815" b="-2031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8DFEC1-69E4-FB11-1F83-09206AD4C580}"/>
              </a:ext>
            </a:extLst>
          </p:cNvPr>
          <p:cNvSpPr txBox="1"/>
          <p:nvPr/>
        </p:nvSpPr>
        <p:spPr>
          <a:xfrm>
            <a:off x="1026242" y="3695700"/>
            <a:ext cx="14442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Medical insurance claims processing is slow, opaque, and error-prone. Patients and providers face manual data entry from prescriptions, discharge summaries, and bills into insurer portals, followed by repeated back-and-forth clarifications. This delays payments, increases administrative overhead, and leaves all stakeholders with limited visibility into claim status, coverage reasoning, and denial causes. There is no trustless verification mechanism — patients must rely entirely on the insurer's word for what happened and when.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628900"/>
            <a:ext cx="5753309" cy="68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3600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description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1657709" y="6644975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28700" y="459603"/>
            <a:ext cx="16320998" cy="1897779"/>
          </a:xfrm>
          <a:custGeom>
            <a:avLst/>
            <a:gdLst/>
            <a:ahLst/>
            <a:cxnLst/>
            <a:rect l="l" t="t" r="r" b="b"/>
            <a:pathLst>
              <a:path w="16320998" h="1897779">
                <a:moveTo>
                  <a:pt x="0" y="0"/>
                </a:moveTo>
                <a:lnTo>
                  <a:pt x="16320998" y="0"/>
                </a:lnTo>
                <a:lnTo>
                  <a:pt x="16320998" y="1897779"/>
                </a:lnTo>
                <a:lnTo>
                  <a:pt x="0" y="18977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162" b="-1983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7ABFF-C047-F0C3-F8D3-E0DC1D78AA17}"/>
              </a:ext>
            </a:extLst>
          </p:cNvPr>
          <p:cNvSpPr txBox="1"/>
          <p:nvPr/>
        </p:nvSpPr>
        <p:spPr>
          <a:xfrm>
            <a:off x="1028700" y="3771900"/>
            <a:ext cx="150495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Current Pain Points:</a:t>
            </a:r>
            <a:endParaRPr lang="en-US" dirty="0"/>
          </a:p>
          <a:p>
            <a:r>
              <a:rPr lang="en-US" dirty="0"/>
              <a:t>Hospital staff manually reads discharge summaries, bills, and prescriptions, then re-enters data into insurer systems — slow and error-prone</a:t>
            </a:r>
          </a:p>
          <a:p>
            <a:r>
              <a:rPr lang="en-US" dirty="0"/>
              <a:t>Policy coverage rules (room rent caps, waiting periods, co-pays, exclusions) are buried in dense documents — manual interpretation leads to incorrect claim submissions</a:t>
            </a:r>
          </a:p>
          <a:p>
            <a:r>
              <a:rPr lang="en-US" dirty="0"/>
              <a:t>Patients have zero visibility into why a claim was partially approved, queried, or denied</a:t>
            </a:r>
          </a:p>
          <a:p>
            <a:r>
              <a:rPr lang="en-US" dirty="0"/>
              <a:t>No tamper-proof audit trail exists — claim status changes are opaque and disputable</a:t>
            </a:r>
          </a:p>
          <a:p>
            <a:r>
              <a:rPr lang="en-US" dirty="0"/>
              <a:t>Fraud detection relies on manual review of high volumes of claims, missing subtle patterns</a:t>
            </a:r>
          </a:p>
          <a:p>
            <a:r>
              <a:rPr lang="en-US" b="1" dirty="0"/>
              <a:t>Scale of the Problem:</a:t>
            </a:r>
            <a:endParaRPr lang="en-US" dirty="0"/>
          </a:p>
          <a:p>
            <a:r>
              <a:rPr lang="en-US" dirty="0"/>
              <a:t>India processes over 1.5 crore health insurance claims annually. Manual processing takes 15-30 days on average. Up to 30% of claims face queries or rejections due to incomplete documentation or policy mismatches — most of which are preventable with intelligent pre-validation.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15592" y="2628900"/>
            <a:ext cx="2947213" cy="694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000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2177741" y="6239794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3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3" y="4904425"/>
                </a:lnTo>
                <a:lnTo>
                  <a:pt x="76631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28700" y="459603"/>
            <a:ext cx="16320998" cy="1897779"/>
          </a:xfrm>
          <a:custGeom>
            <a:avLst/>
            <a:gdLst/>
            <a:ahLst/>
            <a:cxnLst/>
            <a:rect l="l" t="t" r="r" b="b"/>
            <a:pathLst>
              <a:path w="16320998" h="1897779">
                <a:moveTo>
                  <a:pt x="0" y="0"/>
                </a:moveTo>
                <a:lnTo>
                  <a:pt x="16320998" y="0"/>
                </a:lnTo>
                <a:lnTo>
                  <a:pt x="16320998" y="1897779"/>
                </a:lnTo>
                <a:lnTo>
                  <a:pt x="0" y="18977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162" b="-1983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6036C-90D0-89A7-4815-57D6CF61F493}"/>
              </a:ext>
            </a:extLst>
          </p:cNvPr>
          <p:cNvSpPr txBox="1"/>
          <p:nvPr/>
        </p:nvSpPr>
        <p:spPr>
          <a:xfrm>
            <a:off x="1219200" y="3695700"/>
            <a:ext cx="15468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Automate Document Intake</a:t>
            </a:r>
            <a:r>
              <a:rPr lang="en-IN" dirty="0"/>
              <a:t> — Use OCR + NLP (Tesseract, </a:t>
            </a:r>
            <a:r>
              <a:rPr lang="en-IN" dirty="0" err="1"/>
              <a:t>spaCy</a:t>
            </a:r>
            <a:r>
              <a:rPr lang="en-IN" dirty="0"/>
              <a:t>) to extract structured data from medical documents (discharge summaries, hospital bills, prescriptions) with confidence scoring</a:t>
            </a:r>
          </a:p>
          <a:p>
            <a:r>
              <a:rPr lang="en-IN" b="1" dirty="0"/>
              <a:t>Intelligent Policy Validation</a:t>
            </a:r>
            <a:r>
              <a:rPr lang="en-IN" dirty="0"/>
              <a:t> — Deploy an Agentic RAG pipeline (</a:t>
            </a:r>
            <a:r>
              <a:rPr lang="en-IN" dirty="0" err="1"/>
              <a:t>LangGraph</a:t>
            </a:r>
            <a:r>
              <a:rPr lang="en-IN" dirty="0"/>
              <a:t> + </a:t>
            </a:r>
            <a:r>
              <a:rPr lang="en-IN" dirty="0" err="1"/>
              <a:t>ChromaDB</a:t>
            </a:r>
            <a:r>
              <a:rPr lang="en-IN" dirty="0"/>
              <a:t>) that retrieves relevant policy clauses and generates natural-language coverage verdicts with co-pay, exclusion, and waiting period analysis</a:t>
            </a:r>
          </a:p>
          <a:p>
            <a:r>
              <a:rPr lang="en-IN" b="1" dirty="0"/>
              <a:t>Blockchain-Backed Transparency</a:t>
            </a:r>
            <a:r>
              <a:rPr lang="en-IN" dirty="0"/>
              <a:t> — Record cryptographic proofs (Merkle roots of document hashes + AI verdicts) on Ethereum </a:t>
            </a:r>
            <a:r>
              <a:rPr lang="en-IN" dirty="0" err="1"/>
              <a:t>Sepolia</a:t>
            </a:r>
            <a:r>
              <a:rPr lang="en-IN" dirty="0"/>
              <a:t>, giving patients a tamper-proof, publicly verifiable claim timeline</a:t>
            </a:r>
          </a:p>
          <a:p>
            <a:r>
              <a:rPr lang="en-IN" b="1" dirty="0"/>
              <a:t>Dual-Portal Experience</a:t>
            </a:r>
            <a:r>
              <a:rPr lang="en-IN" dirty="0"/>
              <a:t> — Build separate Customer and Insurer portals so both sides of the claim lifecycle are visible: patients track status in real-time, insurers review AI-summarized claims with fraud risk indicators</a:t>
            </a:r>
          </a:p>
          <a:p>
            <a:r>
              <a:rPr lang="en-IN" b="1" dirty="0"/>
              <a:t>Fraud Risk Detection</a:t>
            </a:r>
            <a:r>
              <a:rPr lang="en-IN" dirty="0"/>
              <a:t> — Flag anomalies (unusually high bills, short stays with expensive procedures, missing documents) with rule-based scoring to assist Special Investigation Unit (SIU) teams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657709" y="6644975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700" y="437093"/>
            <a:ext cx="16320998" cy="1920289"/>
          </a:xfrm>
          <a:custGeom>
            <a:avLst/>
            <a:gdLst/>
            <a:ahLst/>
            <a:cxnLst/>
            <a:rect l="l" t="t" r="r" b="b"/>
            <a:pathLst>
              <a:path w="16320998" h="1920289">
                <a:moveTo>
                  <a:pt x="0" y="0"/>
                </a:moveTo>
                <a:lnTo>
                  <a:pt x="16320998" y="0"/>
                </a:lnTo>
                <a:lnTo>
                  <a:pt x="16320998" y="1920289"/>
                </a:lnTo>
                <a:lnTo>
                  <a:pt x="0" y="1920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883" b="-1960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F3839B6-72BF-1017-8EE2-B5C360792F6F}"/>
              </a:ext>
            </a:extLst>
          </p:cNvPr>
          <p:cNvSpPr txBox="1"/>
          <p:nvPr/>
        </p:nvSpPr>
        <p:spPr>
          <a:xfrm>
            <a:off x="1028700" y="2628900"/>
            <a:ext cx="5753309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b="1" dirty="0"/>
              <a:t>Solution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85A383-47F6-64AB-9CFE-300631C580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203228"/>
            <a:ext cx="7422724" cy="61866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657709" y="6644975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700" y="392073"/>
            <a:ext cx="16320998" cy="1965309"/>
          </a:xfrm>
          <a:custGeom>
            <a:avLst/>
            <a:gdLst/>
            <a:ahLst/>
            <a:cxnLst/>
            <a:rect l="l" t="t" r="r" b="b"/>
            <a:pathLst>
              <a:path w="16320998" h="1965309">
                <a:moveTo>
                  <a:pt x="0" y="0"/>
                </a:moveTo>
                <a:lnTo>
                  <a:pt x="16320998" y="0"/>
                </a:lnTo>
                <a:lnTo>
                  <a:pt x="16320998" y="1965309"/>
                </a:lnTo>
                <a:lnTo>
                  <a:pt x="0" y="1965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411" b="-19156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657709" y="6644975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700" y="392073"/>
            <a:ext cx="16320998" cy="1965309"/>
          </a:xfrm>
          <a:custGeom>
            <a:avLst/>
            <a:gdLst/>
            <a:ahLst/>
            <a:cxnLst/>
            <a:rect l="l" t="t" r="r" b="b"/>
            <a:pathLst>
              <a:path w="16320998" h="1965309">
                <a:moveTo>
                  <a:pt x="0" y="0"/>
                </a:moveTo>
                <a:lnTo>
                  <a:pt x="16320998" y="0"/>
                </a:lnTo>
                <a:lnTo>
                  <a:pt x="16320998" y="1965309"/>
                </a:lnTo>
                <a:lnTo>
                  <a:pt x="0" y="1965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411" b="-1915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BDAF48B-75DE-17DB-2FCE-3378EB037A50}"/>
              </a:ext>
            </a:extLst>
          </p:cNvPr>
          <p:cNvSpPr txBox="1"/>
          <p:nvPr/>
        </p:nvSpPr>
        <p:spPr>
          <a:xfrm>
            <a:off x="609600" y="3009900"/>
            <a:ext cx="3679922" cy="757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6000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Findings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2705100"/>
            <a:ext cx="5431631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1657709" y="6644975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28700" y="345905"/>
            <a:ext cx="16320998" cy="1852759"/>
          </a:xfrm>
          <a:custGeom>
            <a:avLst/>
            <a:gdLst/>
            <a:ahLst/>
            <a:cxnLst/>
            <a:rect l="l" t="t" r="r" b="b"/>
            <a:pathLst>
              <a:path w="16320998" h="1852759">
                <a:moveTo>
                  <a:pt x="0" y="0"/>
                </a:moveTo>
                <a:lnTo>
                  <a:pt x="16320998" y="0"/>
                </a:lnTo>
                <a:lnTo>
                  <a:pt x="16320998" y="1852759"/>
                </a:lnTo>
                <a:lnTo>
                  <a:pt x="0" y="18527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815" b="-20319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432</Words>
  <Application>Microsoft Office PowerPoint</Application>
  <PresentationFormat>Custom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Open Sans Bold</vt:lpstr>
      <vt:lpstr>Montserrat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TN-IMPACT_2026_PPT_TEMPLATE.pptx</dc:title>
  <dc:creator>Dr Sivagnanamani GS</dc:creator>
  <cp:lastModifiedBy>Thiru Maran</cp:lastModifiedBy>
  <cp:revision>3</cp:revision>
  <dcterms:created xsi:type="dcterms:W3CDTF">2006-08-16T00:00:00Z</dcterms:created>
  <dcterms:modified xsi:type="dcterms:W3CDTF">2026-03-04T19:16:04Z</dcterms:modified>
  <dc:identifier>DAG9zesFr8A</dc:identifier>
</cp:coreProperties>
</file>